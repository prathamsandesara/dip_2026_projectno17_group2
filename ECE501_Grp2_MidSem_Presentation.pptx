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  <p:embeddedFont>
      <p:font typeface="Helvetica Neue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qbyQwSqJSRK7fgykTo5Qklxsq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79F166-4B1D-4E7E-860F-FE015B83AE7D}">
  <a:tblStyle styleId="{2F79F166-4B1D-4E7E-860F-FE015B83AE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5BCCF55-8766-4A33-A00D-2AB5CC60165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regular.fntdata"/><Relationship Id="rId11" Type="http://schemas.openxmlformats.org/officeDocument/2006/relationships/slide" Target="slides/slide5.xml"/><Relationship Id="rId22" Type="http://schemas.openxmlformats.org/officeDocument/2006/relationships/font" Target="fonts/HelveticaNeueLight-italic.fntdata"/><Relationship Id="rId10" Type="http://schemas.openxmlformats.org/officeDocument/2006/relationships/slide" Target="slides/slide4.xml"/><Relationship Id="rId21" Type="http://schemas.openxmlformats.org/officeDocument/2006/relationships/font" Target="fonts/HelveticaNeueLight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HelveticaNeueLight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HelveticaNeue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04956fb7f_3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d04956fb7f_3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d04956fb7f_3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04956fb7f_3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d04956fb7f_3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d04956fb7f_3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430bcf5f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d0430bcf5f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d0430bcf5f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0430bcf5f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d0430bcf5f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d0430bcf5f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6225ce65fb270da1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h6225ce65fb270da1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h6225ce65fb270da1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0430bcf5f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d0430bcf5f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d0430bcf5f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58eb5619c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c58eb5619c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c58eb5619c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1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1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16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1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2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2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2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2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2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6225ce65fb270da1_0_508"/>
          <p:cNvSpPr txBox="1"/>
          <p:nvPr>
            <p:ph type="title"/>
          </p:nvPr>
        </p:nvSpPr>
        <p:spPr>
          <a:xfrm>
            <a:off x="844150" y="3874808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5" name="Google Shape;95;h6225ce65fb270da1_0_5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7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6225ce65fb270da1_0_51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h6225ce65fb270da1_0_511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h6225ce65fb270da1_0_51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00" name="Google Shape;100;h6225ce65fb270da1_0_51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1" name="Google Shape;101;h6225ce65fb270da1_0_51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6225ce65fb270da1_0_517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h6225ce65fb270da1_0_517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h6225ce65fb270da1_0_5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06" name="Google Shape;106;h6225ce65fb270da1_0_51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7" name="Google Shape;107;h6225ce65fb270da1_0_51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6225ce65fb270da1_0_5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h6225ce65fb270da1_0_52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h6225ce65fb270da1_0_52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h6225ce65fb270da1_0_5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13" name="Google Shape;113;h6225ce65fb270da1_0_52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h6225ce65fb270da1_0_52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6225ce65fb270da1_0_53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h6225ce65fb270da1_0_530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h6225ce65fb270da1_0_530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h6225ce65fb270da1_0_530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h6225ce65fb270da1_0_530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h6225ce65fb270da1_0_53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22" name="Google Shape;122;h6225ce65fb270da1_0_53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3" name="Google Shape;123;h6225ce65fb270da1_0_53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6225ce65fb270da1_0_5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h6225ce65fb270da1_0_53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27" name="Google Shape;127;h6225ce65fb270da1_0_53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8" name="Google Shape;128;h6225ce65fb270da1_0_53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6225ce65fb270da1_0_54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31" name="Google Shape;131;h6225ce65fb270da1_0_54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2" name="Google Shape;132;h6225ce65fb270da1_0_54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6225ce65fb270da1_0_54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h6225ce65fb270da1_0_548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h6225ce65fb270da1_0_548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h6225ce65fb270da1_0_54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38" name="Google Shape;138;h6225ce65fb270da1_0_54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9" name="Google Shape;139;h6225ce65fb270da1_0_54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6225ce65fb270da1_0_55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h6225ce65fb270da1_0_555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h6225ce65fb270da1_0_555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h6225ce65fb270da1_0_55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45" name="Google Shape;145;h6225ce65fb270da1_0_55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6" name="Google Shape;146;h6225ce65fb270da1_0_55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6225ce65fb270da1_0_5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h6225ce65fb270da1_0_56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h6225ce65fb270da1_0_56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51" name="Google Shape;151;h6225ce65fb270da1_0_56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2" name="Google Shape;152;h6225ce65fb270da1_0_56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225ce65fb270da1_0_568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h6225ce65fb270da1_0_568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h6225ce65fb270da1_0_56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57" name="Google Shape;157;h6225ce65fb270da1_0_56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h6225ce65fb270da1_0_56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(h105c72c332f6db79_11_0)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225ce65fb270da1_0_57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h6225ce65fb270da1_0_57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2" name="Google Shape;162;h6225ce65fb270da1_0_57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63" name="Google Shape;163;h6225ce65fb270da1_0_57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2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2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2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2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6225ce65fb270da1_0_49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h6225ce65fb270da1_0_49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87" name="Google Shape;87;h6225ce65fb270da1_0_499"/>
          <p:cNvGrpSpPr/>
          <p:nvPr/>
        </p:nvGrpSpPr>
        <p:grpSpPr>
          <a:xfrm>
            <a:off x="0" y="6756400"/>
            <a:ext cx="12191998" cy="105496"/>
            <a:chOff x="0" y="6756400"/>
            <a:chExt cx="12191998" cy="105496"/>
          </a:xfrm>
        </p:grpSpPr>
        <p:pic>
          <p:nvPicPr>
            <p:cNvPr id="88" name="Google Shape;88;h6225ce65fb270da1_0_49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h6225ce65fb270da1_0_499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5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h6225ce65fb270da1_0_499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5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h6225ce65fb270da1_0_49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92" name="Google Shape;92;h6225ce65fb270da1_0_49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type="title"/>
          </p:nvPr>
        </p:nvSpPr>
        <p:spPr>
          <a:xfrm>
            <a:off x="1785100" y="3025945"/>
            <a:ext cx="9195300" cy="799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ECE501</a:t>
            </a:r>
            <a:r>
              <a:rPr lang="en-US" sz="2300"/>
              <a:t> : Digital Image Processing</a:t>
            </a:r>
            <a:endParaRPr sz="2300"/>
          </a:p>
        </p:txBody>
      </p:sp>
      <p:sp>
        <p:nvSpPr>
          <p:cNvPr id="169" name="Google Shape;169;p1"/>
          <p:cNvSpPr txBox="1"/>
          <p:nvPr/>
        </p:nvSpPr>
        <p:spPr>
          <a:xfrm>
            <a:off x="3910500" y="4598270"/>
            <a:ext cx="60408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3891600" y="5717975"/>
            <a:ext cx="4408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No. - 2 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No. - 17</a:t>
            </a:r>
            <a:br>
              <a:rPr b="1"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Mentor - Prof. Mehul Raval</a:t>
            </a:r>
            <a:endParaRPr b="1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1"/>
          <p:cNvSpPr txBox="1"/>
          <p:nvPr>
            <p:ph type="title"/>
          </p:nvPr>
        </p:nvSpPr>
        <p:spPr>
          <a:xfrm>
            <a:off x="646050" y="3825457"/>
            <a:ext cx="10899900" cy="10923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Adaptive Fabric Surface Detection and Localization using Classical Texture Descriptors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3807325" y="4189000"/>
            <a:ext cx="4465800" cy="26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Pratham Sandesara - AU2340239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Even Patel</a:t>
            </a: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- AU2340241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Dharman Patel</a:t>
            </a: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- AU23</a:t>
            </a:r>
            <a:r>
              <a:rPr b="1" lang="en-US" sz="1600">
                <a:solidFill>
                  <a:schemeClr val="lt1"/>
                </a:solidFill>
              </a:rPr>
              <a:t>40237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Shine Shah - AU2440148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04956fb7f_3_15"/>
          <p:cNvSpPr txBox="1"/>
          <p:nvPr>
            <p:ph type="title"/>
          </p:nvPr>
        </p:nvSpPr>
        <p:spPr>
          <a:xfrm>
            <a:off x="222250" y="349250"/>
            <a:ext cx="114141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Motivation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latin typeface="Arial"/>
                <a:ea typeface="Arial"/>
                <a:cs typeface="Arial"/>
                <a:sym typeface="Arial"/>
              </a:rPr>
              <a:t>Why fabric defect detection really matters?</a:t>
            </a:r>
            <a:endParaRPr b="0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 &amp; Fatigue:</a:t>
            </a:r>
            <a:r>
              <a:rPr b="0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Human eyes miss micro-flaws on fast looms.</a:t>
            </a:r>
            <a:br>
              <a:rPr b="0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 Cost:</a:t>
            </a:r>
            <a:r>
              <a:rPr b="0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Undetected defects lead to heavy customer penalties and material waste.</a:t>
            </a:r>
            <a:br>
              <a:rPr b="0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 Deep Learning:</a:t>
            </a:r>
            <a:r>
              <a:rPr b="0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expensive GPUs or labeled defect datasets required.</a:t>
            </a:r>
            <a:br>
              <a:rPr b="0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Periodic Principle:</a:t>
            </a:r>
            <a:r>
              <a:rPr b="0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Repetitive weave textures allow purely mathematical anomaly detection.</a:t>
            </a:r>
            <a:endParaRPr b="0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d04956fb7f_3_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80" name="Google Shape;180;g3d04956fb7f_3_15"/>
          <p:cNvSpPr txBox="1"/>
          <p:nvPr>
            <p:ph type="title"/>
          </p:nvPr>
        </p:nvSpPr>
        <p:spPr>
          <a:xfrm>
            <a:off x="222250" y="3524250"/>
            <a:ext cx="113298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2. </a:t>
            </a:r>
            <a:r>
              <a:rPr lang="en-US" sz="2000"/>
              <a:t>Literature Review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Silvestre-Blanes et al. (2014):</a:t>
            </a: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Fabric defect detection using projection profiles and texture features.</a:t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Haralick et al. (1973):</a:t>
            </a: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Statistical texture features for image classification.</a:t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Gonzalez and Woods (2018):</a:t>
            </a: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Digital image processing techniques for image analysis.</a:t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Gap:</a:t>
            </a: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Fixed-size filters struggle with different weave patterns and defect sizes.</a:t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Approach:</a:t>
            </a: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Adaptive weave-pitch estimation and multi-scale classical image processing for defect detection.</a:t>
            </a:r>
            <a:endParaRPr b="0"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04956fb7f_3_54"/>
          <p:cNvSpPr txBox="1"/>
          <p:nvPr>
            <p:ph type="title"/>
          </p:nvPr>
        </p:nvSpPr>
        <p:spPr>
          <a:xfrm>
            <a:off x="178200" y="291750"/>
            <a:ext cx="48510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2000"/>
              <a:t>3. Problem Definition &amp; Scope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Problem Statement: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Automated, real-time detection and localization of subtle fabric surface anomalies from grayscale line-scan images using strictly classical DIP (zero deep learning / CNNs).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Central Research Question:</a:t>
            </a:r>
            <a:endParaRPr sz="18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/>
              <a:t>"Can weave-adaptive multi-scale texture descriptors outperform fixed-parameter classical baselines?"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d04956fb7f_3_5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88" name="Google Shape;188;g3d04956fb7f_3_54" title="WhatsApp Image 2026-10-11 at 15.00.1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625" y="1681275"/>
            <a:ext cx="6468076" cy="2850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0430bcf5f_0_4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95" name="Google Shape;195;g3d0430bcf5f_0_48"/>
          <p:cNvSpPr txBox="1"/>
          <p:nvPr>
            <p:ph type="title"/>
          </p:nvPr>
        </p:nvSpPr>
        <p:spPr>
          <a:xfrm>
            <a:off x="149625" y="-2079664"/>
            <a:ext cx="9423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4. Dataset: AITEX Fabric Image Database (AFID)</a:t>
            </a:r>
            <a:endParaRPr sz="2000"/>
          </a:p>
        </p:txBody>
      </p:sp>
      <p:graphicFrame>
        <p:nvGraphicFramePr>
          <p:cNvPr id="196" name="Google Shape;196;g3d0430bcf5f_0_48"/>
          <p:cNvGraphicFramePr/>
          <p:nvPr/>
        </p:nvGraphicFramePr>
        <p:xfrm>
          <a:off x="539700" y="9875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{2F79F166-4B1D-4E7E-860F-FE015B83AE7D}</a:tableStyleId>
              </a:tblPr>
              <a:tblGrid>
                <a:gridCol w="3684950"/>
                <a:gridCol w="3684950"/>
                <a:gridCol w="3684950"/>
              </a:tblGrid>
              <a:tr h="61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2"/>
                          </a:solidFill>
                        </a:rPr>
                        <a:t>Attribute 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2"/>
                          </a:solidFill>
                        </a:rPr>
                        <a:t>Specification 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2"/>
                          </a:solidFill>
                        </a:rPr>
                        <a:t>Project Role / Significance 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66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Source &amp; Modality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Industrial Line-Scan Camera	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Grayscale, high aspect ratio (1:16)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Image Resolution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256 × 4096 pixels	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Preserves micro-texture weave threads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Total Samples	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247 Images	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141 </a:t>
                      </a:r>
                      <a:r>
                        <a:rPr lang="en-US"/>
                        <a:t>Defect-Free  |  </a:t>
                      </a:r>
                      <a:r>
                        <a:rPr b="1" lang="en-US"/>
                        <a:t>106 </a:t>
                      </a:r>
                      <a:r>
                        <a:rPr lang="en-US"/>
                        <a:t>Defective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Ground Truth	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Pixel-Level Binary Masks	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Exact spatial boundaries (0 vs 255)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8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Weave Diversity	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7 Distinct Patterns</a:t>
                      </a:r>
                      <a:r>
                        <a:rPr lang="en-US"/>
                        <a:t> (00–06)	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Varies warp/weft spacing &amp; periodicity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Defect Spectrum	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12 Defect Classes</a:t>
                      </a:r>
                      <a:r>
                        <a:rPr lang="en-US"/>
                        <a:t>	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Holes, oil stains, broken threads, cracks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Data Partitioning	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Train</a:t>
                      </a:r>
                      <a:r>
                        <a:rPr lang="en-US"/>
                        <a:t>: 136  |  </a:t>
                      </a:r>
                      <a:r>
                        <a:rPr b="1" lang="en-US"/>
                        <a:t>Val</a:t>
                      </a:r>
                      <a:r>
                        <a:rPr lang="en-US"/>
                        <a:t>: 49  |  </a:t>
                      </a:r>
                      <a:r>
                        <a:rPr b="1" lang="en-US"/>
                        <a:t>Test</a:t>
                      </a:r>
                      <a:r>
                        <a:rPr lang="en-US"/>
                        <a:t>: 62	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Leakage-Safe:</a:t>
                      </a:r>
                      <a:r>
                        <a:rPr lang="en-US"/>
                        <a:t> Train uses defect-free only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0430bcf5f_0_37"/>
          <p:cNvSpPr txBox="1"/>
          <p:nvPr>
            <p:ph type="title"/>
          </p:nvPr>
        </p:nvSpPr>
        <p:spPr>
          <a:xfrm>
            <a:off x="140100" y="-2241589"/>
            <a:ext cx="9423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5. Methodology / Pipeline</a:t>
            </a:r>
            <a:endParaRPr sz="3000"/>
          </a:p>
        </p:txBody>
      </p:sp>
      <p:sp>
        <p:nvSpPr>
          <p:cNvPr id="203" name="Google Shape;203;g3d0430bcf5f_0_3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204" name="Google Shape;204;g3d0430bcf5f_0_37" title="Fabric Image Defect-2026-10-11-090528.png"/>
          <p:cNvPicPr preferRelativeResize="0"/>
          <p:nvPr/>
        </p:nvPicPr>
        <p:blipFill rotWithShape="1">
          <a:blip r:embed="rId3">
            <a:alphaModFix/>
          </a:blip>
          <a:srcRect b="0" l="5015" r="0" t="6864"/>
          <a:stretch/>
        </p:blipFill>
        <p:spPr>
          <a:xfrm>
            <a:off x="517475" y="917375"/>
            <a:ext cx="11157033" cy="285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05" name="Google Shape;205;g3d0430bcf5f_0_37"/>
          <p:cNvCxnSpPr/>
          <p:nvPr/>
        </p:nvCxnSpPr>
        <p:spPr>
          <a:xfrm>
            <a:off x="4195175" y="3979125"/>
            <a:ext cx="0" cy="21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g3d0430bcf5f_0_37"/>
          <p:cNvCxnSpPr/>
          <p:nvPr/>
        </p:nvCxnSpPr>
        <p:spPr>
          <a:xfrm>
            <a:off x="8165850" y="3979125"/>
            <a:ext cx="0" cy="21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g3d0430bcf5f_0_37"/>
          <p:cNvSpPr txBox="1"/>
          <p:nvPr/>
        </p:nvSpPr>
        <p:spPr>
          <a:xfrm>
            <a:off x="518575" y="4197850"/>
            <a:ext cx="3551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1. Micro Branch Top-Hat Filtering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- Small knots &amp; slubs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- Pinholes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- Fine defects</a:t>
            </a:r>
            <a:endParaRPr sz="1500"/>
          </a:p>
        </p:txBody>
      </p:sp>
      <p:sp>
        <p:nvSpPr>
          <p:cNvPr id="208" name="Google Shape;208;g3d0430bcf5f_0_37"/>
          <p:cNvSpPr txBox="1"/>
          <p:nvPr/>
        </p:nvSpPr>
        <p:spPr>
          <a:xfrm>
            <a:off x="4257613" y="4198000"/>
            <a:ext cx="3720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2. Macro Branch Gaussian Envelope</a:t>
            </a:r>
            <a:br>
              <a:rPr b="1" lang="en-US" sz="1600">
                <a:solidFill>
                  <a:schemeClr val="dk2"/>
                </a:solidFill>
              </a:rPr>
            </a:b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- Large tears &amp; cracks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- Shade bars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- Broad defects</a:t>
            </a:r>
            <a:endParaRPr sz="1500"/>
          </a:p>
        </p:txBody>
      </p:sp>
      <p:sp>
        <p:nvSpPr>
          <p:cNvPr id="209" name="Google Shape;209;g3d0430bcf5f_0_37"/>
          <p:cNvSpPr txBox="1"/>
          <p:nvPr/>
        </p:nvSpPr>
        <p:spPr>
          <a:xfrm>
            <a:off x="8290725" y="4213300"/>
            <a:ext cx="3383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3. Warp Branch Column Profiling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- Vertical yarn streaks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- Column variations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- Warp irregularities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h6225ce65fb270da1_0_41"/>
          <p:cNvPicPr preferRelativeResize="0"/>
          <p:nvPr/>
        </p:nvPicPr>
        <p:blipFill rotWithShape="1">
          <a:blip r:embed="rId3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h6225ce65fb270da1_0_4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17" name="Google Shape;217;h6225ce65fb270da1_0_41"/>
          <p:cNvSpPr/>
          <p:nvPr/>
        </p:nvSpPr>
        <p:spPr>
          <a:xfrm>
            <a:off x="193725" y="714600"/>
            <a:ext cx="6953100" cy="5324400"/>
          </a:xfrm>
          <a:prstGeom prst="roundRect">
            <a:avLst>
              <a:gd fmla="val 15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h6225ce65fb270da1_0_41"/>
          <p:cNvSpPr/>
          <p:nvPr/>
        </p:nvSpPr>
        <p:spPr>
          <a:xfrm>
            <a:off x="7429500" y="904875"/>
            <a:ext cx="4381500" cy="45873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h6225ce65fb270da1_0_41"/>
          <p:cNvSpPr txBox="1"/>
          <p:nvPr>
            <p:ph type="title"/>
          </p:nvPr>
        </p:nvSpPr>
        <p:spPr>
          <a:xfrm>
            <a:off x="-2114475" y="195200"/>
            <a:ext cx="571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D191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b="1" lang="en-US" sz="2000">
                <a:solidFill>
                  <a:srgbClr val="7D191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Results</a:t>
            </a:r>
            <a:endParaRPr b="1" sz="2000">
              <a:solidFill>
                <a:srgbClr val="7D191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20" name="Google Shape;220;h6225ce65fb270da1_0_41"/>
          <p:cNvGraphicFramePr/>
          <p:nvPr/>
        </p:nvGraphicFramePr>
        <p:xfrm>
          <a:off x="193725" y="671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{C5BCCF55-8766-4A33-A00D-2AB5CC601659}</a:tableStyleId>
              </a:tblPr>
              <a:tblGrid>
                <a:gridCol w="1738300"/>
                <a:gridCol w="1738325"/>
                <a:gridCol w="1738300"/>
                <a:gridCol w="1738325"/>
              </a:tblGrid>
              <a:tr h="48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</a:rPr>
                        <a:t>Eval</a:t>
                      </a:r>
                      <a:r>
                        <a:rPr b="1" lang="en-US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</a:rPr>
                        <a:t>u</a:t>
                      </a:r>
                      <a:r>
                        <a:rPr b="1" lang="en-US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</a:rPr>
                        <a:t>ation Tier</a:t>
                      </a:r>
                      <a:endParaRPr b="1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</a:rPr>
                        <a:t>Metric</a:t>
                      </a:r>
                      <a:endParaRPr b="1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</a:rPr>
                        <a:t>Fixed Control (15x15)</a:t>
                      </a:r>
                      <a:endParaRPr b="1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  <a:highlight>
                            <a:srgbClr val="7D1916"/>
                          </a:highlight>
                        </a:rPr>
                        <a:t>Proposed Weave-Adaptive</a:t>
                      </a:r>
                      <a:endParaRPr b="1">
                        <a:solidFill>
                          <a:srgbClr val="FFFFFF"/>
                        </a:solidFill>
                        <a:highlight>
                          <a:srgbClr val="7D1916"/>
                        </a:highlight>
                      </a:endParaRPr>
                    </a:p>
                  </a:txBody>
                  <a:tcPr marT="95250" marB="9525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1916"/>
                    </a:solidFill>
                  </a:tcPr>
                </a:tc>
              </a:tr>
              <a:tr h="485775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7D1916"/>
                          </a:solidFill>
                          <a:highlight>
                            <a:srgbClr val="FAFAFA"/>
                          </a:highlight>
                        </a:rPr>
                        <a:t>Image-Level</a:t>
                      </a:r>
                      <a:br>
                        <a:rPr b="1" lang="en-US">
                          <a:solidFill>
                            <a:srgbClr val="7D1916"/>
                          </a:solidFill>
                          <a:highlight>
                            <a:srgbClr val="FAFAFA"/>
                          </a:highlight>
                        </a:rPr>
                      </a:br>
                      <a:r>
                        <a:rPr b="0" lang="en-US" sz="850">
                          <a:solidFill>
                            <a:srgbClr val="64748B"/>
                          </a:solidFill>
                          <a:highlight>
                            <a:srgbClr val="FAFAFA"/>
                          </a:highlight>
                        </a:rPr>
                        <a:t>(Roll Triage)</a:t>
                      </a:r>
                      <a:endParaRPr b="1">
                        <a:solidFill>
                          <a:srgbClr val="7D1916"/>
                        </a:solidFill>
                        <a:highlight>
                          <a:srgbClr val="FAFAFA"/>
                        </a:highlight>
                      </a:endParaRPr>
                    </a:p>
                  </a:txBody>
                  <a:tcPr marT="95250" marB="9525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1E293B"/>
                          </a:solidFill>
                        </a:rPr>
                        <a:t>Screening Accuracy</a:t>
                      </a:r>
                      <a:endParaRPr b="0">
                        <a:solidFill>
                          <a:srgbClr val="1E293B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58.02%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7D1916"/>
                          </a:solidFill>
                          <a:highlight>
                            <a:srgbClr val="FDF2F2"/>
                          </a:highlight>
                        </a:rPr>
                        <a:t>75.31% </a:t>
                      </a:r>
                      <a:r>
                        <a:rPr b="0" lang="en-US" sz="800">
                          <a:solidFill>
                            <a:srgbClr val="166534"/>
                          </a:solidFill>
                          <a:highlight>
                            <a:srgbClr val="DCFCE7"/>
                          </a:highlight>
                        </a:rPr>
                        <a:t>+17.3%</a:t>
                      </a:r>
                      <a:endParaRPr b="1">
                        <a:solidFill>
                          <a:srgbClr val="7D1916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857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1E293B"/>
                          </a:solidFill>
                        </a:rPr>
                        <a:t>Defect Sensitivity (Recall)</a:t>
                      </a:r>
                      <a:endParaRPr b="0">
                        <a:solidFill>
                          <a:srgbClr val="1E293B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49.06%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7D1916"/>
                          </a:solidFill>
                          <a:highlight>
                            <a:srgbClr val="FDF2F2"/>
                          </a:highlight>
                        </a:rPr>
                        <a:t>77.36% </a:t>
                      </a:r>
                      <a:r>
                        <a:rPr b="0" lang="en-US" sz="800">
                          <a:solidFill>
                            <a:srgbClr val="166534"/>
                          </a:solidFill>
                          <a:highlight>
                            <a:srgbClr val="DCFCE7"/>
                          </a:highlight>
                        </a:rPr>
                        <a:t>+28.3%</a:t>
                      </a:r>
                      <a:endParaRPr b="1">
                        <a:solidFill>
                          <a:srgbClr val="7D1916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857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E293B"/>
                          </a:solidFill>
                        </a:rPr>
                        <a:t>Screening Precision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78.79%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7D1916"/>
                          </a:solidFill>
                          <a:highlight>
                            <a:srgbClr val="FDF2F2"/>
                          </a:highlight>
                        </a:rPr>
                        <a:t>83.67%</a:t>
                      </a:r>
                      <a:endParaRPr b="1">
                        <a:solidFill>
                          <a:srgbClr val="7D1916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857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E293B"/>
                          </a:solidFill>
                        </a:rPr>
                        <a:t>Screening Specificity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75.00%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334155"/>
                          </a:solidFill>
                          <a:highlight>
                            <a:srgbClr val="FDF2F2"/>
                          </a:highlight>
                        </a:rPr>
                        <a:t>71.43%</a:t>
                      </a:r>
                      <a:endParaRPr b="0">
                        <a:solidFill>
                          <a:srgbClr val="334155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85775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7D1916"/>
                          </a:solidFill>
                          <a:highlight>
                            <a:srgbClr val="FAFAFA"/>
                          </a:highlight>
                        </a:rPr>
                        <a:t>Pixel-Level</a:t>
                      </a:r>
                      <a:br>
                        <a:rPr b="1" lang="en-US">
                          <a:solidFill>
                            <a:srgbClr val="7D1916"/>
                          </a:solidFill>
                          <a:highlight>
                            <a:srgbClr val="FAFAFA"/>
                          </a:highlight>
                        </a:rPr>
                      </a:br>
                      <a:r>
                        <a:rPr b="0" lang="en-US" sz="850">
                          <a:solidFill>
                            <a:srgbClr val="64748B"/>
                          </a:solidFill>
                          <a:highlight>
                            <a:srgbClr val="FAFAFA"/>
                          </a:highlight>
                        </a:rPr>
                        <a:t>(Mask Boundary)</a:t>
                      </a:r>
                      <a:endParaRPr b="1">
                        <a:solidFill>
                          <a:srgbClr val="7D1916"/>
                        </a:solidFill>
                        <a:highlight>
                          <a:srgbClr val="FAFAFA"/>
                        </a:highlight>
                      </a:endParaRPr>
                    </a:p>
                  </a:txBody>
                  <a:tcPr marT="95250" marB="9525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E293B"/>
                          </a:solidFill>
                        </a:rPr>
                        <a:t>Pixel Precision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80.29%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334155"/>
                          </a:solidFill>
                          <a:highlight>
                            <a:srgbClr val="FDF2F2"/>
                          </a:highlight>
                        </a:rPr>
                        <a:t>78.56%</a:t>
                      </a:r>
                      <a:endParaRPr b="0">
                        <a:solidFill>
                          <a:srgbClr val="334155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857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E293B"/>
                          </a:solidFill>
                        </a:rPr>
                        <a:t>Pixel Recall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66.85%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7D1916"/>
                          </a:solidFill>
                          <a:highlight>
                            <a:srgbClr val="FDF2F2"/>
                          </a:highlight>
                        </a:rPr>
                        <a:t>67.38%</a:t>
                      </a:r>
                      <a:endParaRPr b="1">
                        <a:solidFill>
                          <a:srgbClr val="7D1916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857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E293B"/>
                          </a:solidFill>
                        </a:rPr>
                        <a:t>Pixel F1-Score (Dice)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72.96%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334155"/>
                          </a:solidFill>
                          <a:highlight>
                            <a:srgbClr val="FDF2F2"/>
                          </a:highlight>
                        </a:rPr>
                        <a:t>72.54%</a:t>
                      </a:r>
                      <a:endParaRPr b="0">
                        <a:solidFill>
                          <a:srgbClr val="334155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857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E293B"/>
                          </a:solidFill>
                        </a:rPr>
                        <a:t>Pixel IoU (Jaccard)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57.43%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334155"/>
                          </a:solidFill>
                          <a:highlight>
                            <a:srgbClr val="FDF2F2"/>
                          </a:highlight>
                        </a:rPr>
                        <a:t>56.91%</a:t>
                      </a:r>
                      <a:endParaRPr b="0">
                        <a:solidFill>
                          <a:srgbClr val="334155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7D1916"/>
                          </a:solidFill>
                          <a:highlight>
                            <a:srgbClr val="FAFAFA"/>
                          </a:highlight>
                        </a:rPr>
                        <a:t>Noise Safety</a:t>
                      </a:r>
                      <a:endParaRPr b="1">
                        <a:solidFill>
                          <a:srgbClr val="7D1916"/>
                        </a:solidFill>
                        <a:highlight>
                          <a:srgbClr val="FAFAFA"/>
                        </a:highlight>
                      </a:endParaRPr>
                    </a:p>
                  </a:txBody>
                  <a:tcPr marT="95250" marB="9525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E293B"/>
                          </a:solidFill>
                        </a:rPr>
                        <a:t>Clean False Alarm Rate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0.0052%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7D1916"/>
                          </a:solidFill>
                          <a:highlight>
                            <a:srgbClr val="FDF2F2"/>
                          </a:highlight>
                        </a:rPr>
                        <a:t>0.0051%</a:t>
                      </a:r>
                      <a:endParaRPr b="1">
                        <a:solidFill>
                          <a:srgbClr val="7D1916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76200" marB="762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1" name="Google Shape;221;h6225ce65fb270da1_0_41"/>
          <p:cNvGraphicFramePr/>
          <p:nvPr/>
        </p:nvGraphicFramePr>
        <p:xfrm>
          <a:off x="7429500" y="95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{C5BCCF55-8766-4A33-A00D-2AB5CC601659}</a:tableStyleId>
              </a:tblPr>
              <a:tblGrid>
                <a:gridCol w="1460500"/>
                <a:gridCol w="1460500"/>
                <a:gridCol w="1460500"/>
              </a:tblGrid>
              <a:tr h="70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</a:rPr>
                        <a:t>Roll Outcome</a:t>
                      </a:r>
                      <a:endParaRPr b="1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</a:rPr>
                        <a:t>Fixed Control</a:t>
                      </a:r>
                      <a:endParaRPr b="1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7D1916"/>
                          </a:solidFill>
                          <a:highlight>
                            <a:srgbClr val="FDF2F2"/>
                          </a:highlight>
                        </a:rPr>
                        <a:t>Proposed Adaptive</a:t>
                      </a:r>
                      <a:endParaRPr b="1">
                        <a:solidFill>
                          <a:srgbClr val="7D1916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95250" marB="9525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1E293B"/>
                          </a:solidFill>
                        </a:rPr>
                        <a:t>True Positive (TP)</a:t>
                      </a:r>
                      <a:br>
                        <a:rPr b="0" lang="en-US">
                          <a:solidFill>
                            <a:srgbClr val="1E293B"/>
                          </a:solidFill>
                        </a:rPr>
                      </a:br>
                      <a:r>
                        <a:rPr b="0" lang="en-US" sz="850">
                          <a:solidFill>
                            <a:srgbClr val="166534"/>
                          </a:solidFill>
                        </a:rPr>
                        <a:t>(Defects Caught)</a:t>
                      </a:r>
                      <a:endParaRPr b="0">
                        <a:solidFill>
                          <a:srgbClr val="1E293B"/>
                        </a:solidFill>
                      </a:endParaRPr>
                    </a:p>
                  </a:txBody>
                  <a:tcPr marT="114300" marB="1143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26 / 53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114300" marB="11430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66534"/>
                          </a:solidFill>
                          <a:highlight>
                            <a:srgbClr val="FDF2F2"/>
                          </a:highlight>
                        </a:rPr>
                        <a:t>41 / 53</a:t>
                      </a:r>
                      <a:endParaRPr b="1">
                        <a:solidFill>
                          <a:srgbClr val="166534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114300" marB="11430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1E293B"/>
                          </a:solidFill>
                        </a:rPr>
                        <a:t>False Negative (FN)</a:t>
                      </a:r>
                      <a:br>
                        <a:rPr b="0" lang="en-US">
                          <a:solidFill>
                            <a:srgbClr val="1E293B"/>
                          </a:solidFill>
                        </a:rPr>
                      </a:br>
                      <a:r>
                        <a:rPr b="0" lang="en-US" sz="850">
                          <a:solidFill>
                            <a:srgbClr val="991B1B"/>
                          </a:solidFill>
                        </a:rPr>
                        <a:t>(Defects Missed)</a:t>
                      </a:r>
                      <a:endParaRPr b="0">
                        <a:solidFill>
                          <a:srgbClr val="1E293B"/>
                        </a:solidFill>
                      </a:endParaRPr>
                    </a:p>
                  </a:txBody>
                  <a:tcPr marT="114300" marB="1143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27 / 53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114300" marB="11430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66534"/>
                          </a:solidFill>
                          <a:highlight>
                            <a:srgbClr val="FDF2F2"/>
                          </a:highlight>
                        </a:rPr>
                        <a:t>12 / 53</a:t>
                      </a:r>
                      <a:endParaRPr b="1">
                        <a:solidFill>
                          <a:srgbClr val="166534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114300" marB="11430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1E293B"/>
                          </a:solidFill>
                        </a:rPr>
                        <a:t>True Negative (TN)</a:t>
                      </a:r>
                      <a:br>
                        <a:rPr b="0" lang="en-US">
                          <a:solidFill>
                            <a:srgbClr val="1E293B"/>
                          </a:solidFill>
                        </a:rPr>
                      </a:br>
                      <a:r>
                        <a:rPr b="0" lang="en-US" sz="850">
                          <a:solidFill>
                            <a:srgbClr val="64748B"/>
                          </a:solidFill>
                        </a:rPr>
                        <a:t>(Clean Passed)</a:t>
                      </a:r>
                      <a:endParaRPr b="0">
                        <a:solidFill>
                          <a:srgbClr val="1E293B"/>
                        </a:solidFill>
                      </a:endParaRPr>
                    </a:p>
                  </a:txBody>
                  <a:tcPr marT="114300" marB="1143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21 / 28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114300" marB="11430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334155"/>
                          </a:solidFill>
                          <a:highlight>
                            <a:srgbClr val="FDF2F2"/>
                          </a:highlight>
                        </a:rPr>
                        <a:t>20 / 28</a:t>
                      </a:r>
                      <a:endParaRPr b="0">
                        <a:solidFill>
                          <a:srgbClr val="334155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114300" marB="11430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1E293B"/>
                          </a:solidFill>
                        </a:rPr>
                        <a:t>False Positive (FP)</a:t>
                      </a:r>
                      <a:br>
                        <a:rPr b="0" lang="en-US">
                          <a:solidFill>
                            <a:srgbClr val="1E293B"/>
                          </a:solidFill>
                        </a:rPr>
                      </a:br>
                      <a:r>
                        <a:rPr b="0" lang="en-US" sz="850">
                          <a:solidFill>
                            <a:srgbClr val="64748B"/>
                          </a:solidFill>
                        </a:rPr>
                        <a:t>(False Alarm)</a:t>
                      </a:r>
                      <a:endParaRPr b="0">
                        <a:solidFill>
                          <a:srgbClr val="1E293B"/>
                        </a:solidFill>
                      </a:endParaRPr>
                    </a:p>
                  </a:txBody>
                  <a:tcPr marT="114300" marB="114300" marR="76200" marL="7620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</a:rPr>
                        <a:t>7 / 28</a:t>
                      </a:r>
                      <a:endParaRPr>
                        <a:solidFill>
                          <a:srgbClr val="475569"/>
                        </a:solidFill>
                      </a:endParaRPr>
                    </a:p>
                  </a:txBody>
                  <a:tcPr marT="114300" marB="11430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solidFill>
                            <a:srgbClr val="334155"/>
                          </a:solidFill>
                          <a:highlight>
                            <a:srgbClr val="FDF2F2"/>
                          </a:highlight>
                        </a:rPr>
                        <a:t>8 / 28</a:t>
                      </a:r>
                      <a:endParaRPr b="0">
                        <a:solidFill>
                          <a:srgbClr val="334155"/>
                        </a:solidFill>
                        <a:highlight>
                          <a:srgbClr val="FDF2F2"/>
                        </a:highlight>
                      </a:endParaRPr>
                    </a:p>
                  </a:txBody>
                  <a:tcPr marT="114300" marB="114300" marR="57150" marL="57150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0430bcf5f_0_65"/>
          <p:cNvSpPr txBox="1"/>
          <p:nvPr>
            <p:ph type="title"/>
          </p:nvPr>
        </p:nvSpPr>
        <p:spPr>
          <a:xfrm>
            <a:off x="136575" y="-2314514"/>
            <a:ext cx="9423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7. Results </a:t>
            </a:r>
            <a:endParaRPr sz="3000"/>
          </a:p>
        </p:txBody>
      </p:sp>
      <p:sp>
        <p:nvSpPr>
          <p:cNvPr id="228" name="Google Shape;228;g3d0430bcf5f_0_6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229" name="Google Shape;229;g3d0430bcf5f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4450" y="619213"/>
            <a:ext cx="5979351" cy="496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d0430bcf5f_0_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300" y="619224"/>
            <a:ext cx="5073085" cy="26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d0430bcf5f_0_65" title="Screenshot 2026-10-11 at 4.19.0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300" y="3605800"/>
            <a:ext cx="5523150" cy="298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58eb5619c_0_103"/>
          <p:cNvSpPr txBox="1"/>
          <p:nvPr>
            <p:ph type="title"/>
          </p:nvPr>
        </p:nvSpPr>
        <p:spPr>
          <a:xfrm>
            <a:off x="257175" y="-2178289"/>
            <a:ext cx="9423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8. Future Work</a:t>
            </a:r>
            <a:endParaRPr sz="3000"/>
          </a:p>
        </p:txBody>
      </p:sp>
      <p:sp>
        <p:nvSpPr>
          <p:cNvPr id="238" name="Google Shape;238;g3c58eb5619c_0_10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39" name="Google Shape;239;g3c58eb5619c_0_103"/>
          <p:cNvSpPr txBox="1"/>
          <p:nvPr/>
        </p:nvSpPr>
        <p:spPr>
          <a:xfrm>
            <a:off x="257175" y="28963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r>
              <a:rPr b="1" lang="en-US" sz="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References</a:t>
            </a:r>
            <a:endParaRPr b="1" sz="30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g3c58eb5619c_0_103"/>
          <p:cNvSpPr txBox="1"/>
          <p:nvPr/>
        </p:nvSpPr>
        <p:spPr>
          <a:xfrm>
            <a:off x="257175" y="757200"/>
            <a:ext cx="10545600" cy="2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Multi-Class Defect Categorization: </a:t>
            </a:r>
            <a:r>
              <a:rPr lang="en-US">
                <a:solidFill>
                  <a:schemeClr val="dk1"/>
                </a:solidFill>
              </a:rPr>
              <a:t>Extending binary detection into deterministic taxonomy classification (e.g., Holes, Knots, Oil Stains) using invariant shape moments without machine learning.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Fabric Alignment Correction</a:t>
            </a:r>
            <a:r>
              <a:rPr lang="en-US"/>
              <a:t>: Detect the direction of fabric threads and correct tilted images. Align the fabric before detecting defects for better accuracy.</a:t>
            </a:r>
            <a:br>
              <a:rPr lang="en-US"/>
            </a:b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Pattern Removal Using Frequency Filtering</a:t>
            </a:r>
            <a:r>
              <a:rPr lang="en-US"/>
              <a:t>: Reduce repetitive fabric patterns to highlight defects. Make irregular flaws easier to detect against the normal fabric texture.</a:t>
            </a:r>
            <a:br>
              <a:rPr lang="en-US"/>
            </a:br>
            <a:endParaRPr/>
          </a:p>
        </p:txBody>
      </p:sp>
      <p:sp>
        <p:nvSpPr>
          <p:cNvPr id="241" name="Google Shape;241;g3c58eb5619c_0_103"/>
          <p:cNvSpPr txBox="1"/>
          <p:nvPr/>
        </p:nvSpPr>
        <p:spPr>
          <a:xfrm>
            <a:off x="257175" y="3481975"/>
            <a:ext cx="10821300" cy="22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Silvestre-Blanes, J., et al. (2014).</a:t>
            </a:r>
            <a:r>
              <a:rPr lang="en-US">
                <a:solidFill>
                  <a:schemeClr val="dk1"/>
                </a:solidFill>
              </a:rPr>
              <a:t> A public fabric image database for defect detection through projection profiles and texture features. </a:t>
            </a:r>
            <a:r>
              <a:rPr i="1" lang="en-US">
                <a:solidFill>
                  <a:schemeClr val="dk1"/>
                </a:solidFill>
              </a:rPr>
              <a:t>Autex Research Journal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i="1" lang="en-US">
                <a:solidFill>
                  <a:schemeClr val="dk1"/>
                </a:solidFill>
              </a:rPr>
              <a:t>14</a:t>
            </a:r>
            <a:r>
              <a:rPr lang="en-US">
                <a:solidFill>
                  <a:schemeClr val="dk1"/>
                </a:solidFill>
              </a:rPr>
              <a:t>(4), 248–255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Ngan, H. Y. T., Pang, G. K. H., &amp; Yung, N. H. C. (2011).</a:t>
            </a:r>
            <a:r>
              <a:rPr lang="en-US">
                <a:solidFill>
                  <a:schemeClr val="dk1"/>
                </a:solidFill>
              </a:rPr>
              <a:t> Automated fabric defect detection—A review. </a:t>
            </a:r>
            <a:r>
              <a:rPr i="1" lang="en-US">
                <a:solidFill>
                  <a:schemeClr val="dk1"/>
                </a:solidFill>
              </a:rPr>
              <a:t>Image and Vision Computing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i="1" lang="en-US">
                <a:solidFill>
                  <a:schemeClr val="dk1"/>
                </a:solidFill>
              </a:rPr>
              <a:t>29</a:t>
            </a:r>
            <a:r>
              <a:rPr lang="en-US">
                <a:solidFill>
                  <a:schemeClr val="dk1"/>
                </a:solidFill>
              </a:rPr>
              <a:t>(7), 442–458.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Gonzalez, R. C., &amp; Woods, R. E. (2018).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Digital image processing</a:t>
            </a:r>
            <a:r>
              <a:rPr lang="en-US">
                <a:solidFill>
                  <a:schemeClr val="dk1"/>
                </a:solidFill>
              </a:rPr>
              <a:t> (4th ed.). Pearson.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1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4327750" y="4781700"/>
            <a:ext cx="109842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 </a:t>
            </a:r>
            <a:endParaRPr b="1" i="0" sz="3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9" name="Google Shape;249;p11"/>
          <p:cNvSpPr txBox="1"/>
          <p:nvPr>
            <p:ph type="title"/>
          </p:nvPr>
        </p:nvSpPr>
        <p:spPr>
          <a:xfrm>
            <a:off x="287075" y="-2119687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10</a:t>
            </a:r>
            <a:r>
              <a:rPr lang="en-US" sz="2000"/>
              <a:t>. Individual Contribution</a:t>
            </a:r>
            <a:endParaRPr sz="3000"/>
          </a:p>
        </p:txBody>
      </p:sp>
      <p:graphicFrame>
        <p:nvGraphicFramePr>
          <p:cNvPr id="250" name="Google Shape;250;p11"/>
          <p:cNvGraphicFramePr/>
          <p:nvPr/>
        </p:nvGraphicFramePr>
        <p:xfrm>
          <a:off x="401375" y="100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{2F79F166-4B1D-4E7E-860F-FE015B83AE7D}</a:tableStyleId>
              </a:tblPr>
              <a:tblGrid>
                <a:gridCol w="1885475"/>
                <a:gridCol w="6163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Pratham Sandesara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Segmentation &amp; Evaluation , Statistical Thresholding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Even Patel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Adaptive Modeling &amp; Multiscale Morphology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Dharman Patel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&amp; Preprocessing &amp;  2D FFT Autocorrelation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Shine Shah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Texture Descriptors &amp; Directional Profiling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